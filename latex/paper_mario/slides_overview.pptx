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The Problem: Vessels Go Dark and Disguise Their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57607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50" b="1">
                <a:solidFill>
                  <a:srgbClr val="003366"/>
                </a:solidFill>
              </a:rPr>
              <a:t>90,000 vessels of regulatory concern active at any moment — the picture is incomplete by design.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03366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03366"/>
                </a:solidFill>
              </a:rPr>
              <a:t>75% of industrial fishing vessels intentionally disable their AIS transponders.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03366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03366"/>
                </a:solidFill>
              </a:rPr>
              <a:t>Even when a vessel is visible, analysts must answer two questions from limited data:</a:t>
            </a:r>
          </a:p>
          <a:p>
            <a:pPr lvl="1">
              <a:spcBef>
                <a:spcPts val="400"/>
              </a:spcBef>
            </a:pPr>
            <a:r>
              <a:rPr sz="1150" b="0">
                <a:solidFill>
                  <a:srgbClr val="1A1A1A"/>
                </a:solidFill>
              </a:rPr>
              <a:t>• What is it doing?  Fishing · Transiting · Loitering · STS transfer</a:t>
            </a:r>
          </a:p>
          <a:p>
            <a:pPr lvl="1">
              <a:spcBef>
                <a:spcPts val="400"/>
              </a:spcBef>
            </a:pPr>
            <a:r>
              <a:rPr sz="1150" b="0">
                <a:solidFill>
                  <a:srgbClr val="1A1A1A"/>
                </a:solidFill>
              </a:rPr>
              <a:t>• What type is it?  Trawler · Cargo · Naval · Unknown contact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03366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03366"/>
                </a:solidFill>
              </a:rPr>
              <a:t>Available data ranges from a full day of AIS pings to a single satellite image.</a:t>
            </a:r>
          </a:p>
        </p:txBody>
      </p:sp>
      <p:pic>
        <p:nvPicPr>
          <p:cNvPr id="6" name="Picture 5" descr="B2_dark_period_uncertainty_c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777240"/>
            <a:ext cx="5760720" cy="2651760"/>
          </a:xfrm>
          <a:prstGeom prst="rect">
            <a:avLst/>
          </a:prstGeom>
        </p:spPr>
      </p:pic>
      <p:pic>
        <p:nvPicPr>
          <p:cNvPr id="7" name="Picture 6" descr="C3_sts_rendezvo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566160"/>
            <a:ext cx="576072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62636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55555"/>
                </a:solidFill>
              </a:rPr>
              <a:t>Top: position uncertainty grows after AIS loss.  Bottom: simulated ship-to-ship transfer.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The Scale: Where Fishing Actually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57607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50" b="1">
                <a:solidFill>
                  <a:srgbClr val="003366"/>
                </a:solidFill>
              </a:rPr>
              <a:t>Grounded in real fleet data from Global Fishing Watch — 2023 effort across four operational regions.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03366"/>
                </a:solidFill>
              </a:rPr>
              <a:t/>
            </a:r>
          </a:p>
          <a:p>
            <a:pPr lvl="1">
              <a:spcBef>
                <a:spcPts val="400"/>
              </a:spcBef>
            </a:pPr>
            <a:r>
              <a:rPr sz="1150" b="0">
                <a:solidFill>
                  <a:srgbClr val="1A1A1A"/>
                </a:solidFill>
              </a:rPr>
              <a:t>• Brazil EEZ          309,711 records · 1,382,042 fishing hours</a:t>
            </a:r>
          </a:p>
          <a:p>
            <a:pPr lvl="1">
              <a:spcBef>
                <a:spcPts val="400"/>
              </a:spcBef>
            </a:pPr>
            <a:r>
              <a:rPr sz="1150" b="0">
                <a:solidFill>
                  <a:srgbClr val="1A1A1A"/>
                </a:solidFill>
              </a:rPr>
              <a:t>• Philippine EEZ      61,460 records</a:t>
            </a:r>
          </a:p>
          <a:p>
            <a:pPr lvl="1">
              <a:spcBef>
                <a:spcPts val="400"/>
              </a:spcBef>
            </a:pPr>
            <a:r>
              <a:rPr sz="1150" b="0">
                <a:solidFill>
                  <a:srgbClr val="1A1A1A"/>
                </a:solidFill>
              </a:rPr>
              <a:t>• Strait of Malacca   54,040 records</a:t>
            </a:r>
          </a:p>
          <a:p>
            <a:pPr lvl="1">
              <a:spcBef>
                <a:spcPts val="400"/>
              </a:spcBef>
            </a:pPr>
            <a:r>
              <a:rPr sz="1150" b="0">
                <a:solidFill>
                  <a:srgbClr val="1A1A1A"/>
                </a:solidFill>
              </a:rPr>
              <a:t>• Gulf of Guinea      59,954 records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03366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03366"/>
                </a:solidFill>
              </a:rPr>
              <a:t>Fishing effort clusters around productive grounds and shifts seasonally.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03366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03366"/>
                </a:solidFill>
              </a:rPr>
              <a:t>The simulator is calibrated against these distributions — speed profiles, gear-type ratios, and dark-event rates are realistic.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03366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03366"/>
                </a:solidFill>
              </a:rPr>
              <a:t>Validation: speed profile KL-divergence vs. GFW real data &lt; 0.15 nats across all gear types.</a:t>
            </a:r>
          </a:p>
        </p:txBody>
      </p:sp>
      <p:pic>
        <p:nvPicPr>
          <p:cNvPr id="6" name="Picture 5" descr="B1_gfw_fishing_effort_asia_pacif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777240"/>
            <a:ext cx="576072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62636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55555"/>
                </a:solidFill>
              </a:rPr>
              <a:t>GFW 2023 fishing effort — Asia-Pacific. Dense clusters mark the Philippine EEZ and South China Sea. The Strait of Malacca is a key chokepoint for both fishing and transit traffic.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The System: Classify Any Vessel from Any 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57607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>
                <a:solidFill>
                  <a:srgbClr val="003366"/>
                </a:solidFill>
              </a:rPr>
              <a:t>Inputs:</a:t>
            </a:r>
          </a:p>
          <a:p>
            <a:pPr lvl="1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</a:rPr>
              <a:t>• AIS, radar, satellite EO/SAR — or any combination, down to a single ping.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3366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3366"/>
                </a:solidFill>
              </a:rPr>
              <a:t>Outputs per vessel:</a:t>
            </a:r>
          </a:p>
          <a:p>
            <a:pPr lvl="1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</a:rPr>
              <a:t>• Activity class  (fishing / transit / anchored / loitering / STS)</a:t>
            </a:r>
          </a:p>
          <a:p>
            <a:pPr lvl="1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</a:rPr>
              <a:t>• Vessel type  (12 classes)</a:t>
            </a:r>
          </a:p>
          <a:p>
            <a:pPr lvl="1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</a:rPr>
              <a:t>• Dark-vessel risk score  (0–1, SHAP-interpretable)</a:t>
            </a:r>
          </a:p>
          <a:p>
            <a:pPr lvl="1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</a:rPr>
              <a:t>• Calibrated confidence  (conservative for sparse data)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3366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3366"/>
                </a:solidFill>
              </a:rPr>
              <a:t>Key design insight:</a:t>
            </a:r>
          </a:p>
          <a:p>
            <a:pPr lvl="1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</a:rPr>
              <a:t>• XGBoost learns what each feature's absence means — no imputation, no minimum track length required.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3366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3366"/>
                </a:solidFill>
              </a:rPr>
              <a:t>Trained and evaluated on 5,121 real vessels across three independent NOAA datasets.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3366"/>
                </a:solidFill>
              </a:rPr>
              <a:t>Training time: 82 seconds on GPU.   Inference: 19 µs per vessel.</a:t>
            </a:r>
          </a:p>
        </p:txBody>
      </p:sp>
      <p:pic>
        <p:nvPicPr>
          <p:cNvPr id="6" name="Picture 5" descr="B5_risk_scor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777240"/>
            <a:ext cx="5760720" cy="2926080"/>
          </a:xfrm>
          <a:prstGeom prst="rect">
            <a:avLst/>
          </a:prstGeom>
        </p:spPr>
      </p:pic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794760"/>
            <a:ext cx="576072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62636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55555"/>
                </a:solidFill>
              </a:rPr>
              <a:t>Top: risk dashboard — all flagged vessels are fishing-registered.  Bottom: top features by importance.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Results: Robust Performance Across Regions and Sensors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822960"/>
          <a:ext cx="48463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</a:rPr>
                        <a:t>Activity classification F₁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0.900 – 1.000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</a:rPr>
                        <a:t>Vessel type F₁  (12 classes)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0.969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</a:rPr>
                        <a:t>Performance: N=1 vs N=50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statistically flat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</a:rPr>
                        <a:t>Brazil EEZ  (synthetic)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F₁ = 0.993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</a:rPr>
                        <a:t>Strait of Malacca  (synthetic)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F₁ = 0.999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</a:rPr>
                        <a:t>Gulf of Guinea  (synthetic)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F₁ = 0.992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</a:rPr>
                        <a:t>Philippine EEZ  (synthetic)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F₁ = 0.992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</a:rPr>
                        <a:t>Dark vessels flagged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49  (all fishing-reg.)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</a:rPr>
                        <a:t>GPU training  (216k examples)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82 seconds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389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The most significant open challenge is EO/SAR-only contacts where speed is unavailable. Geography-prior features and SAR foundation models are the next step.</a:t>
            </a:r>
          </a:p>
        </p:txBody>
      </p:sp>
      <p:pic>
        <p:nvPicPr>
          <p:cNvPr id="7" name="Picture 6" descr="A2_partial_track_f1_vs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777240"/>
            <a:ext cx="5760720" cy="2651760"/>
          </a:xfrm>
          <a:prstGeom prst="rect">
            <a:avLst/>
          </a:prstGeom>
        </p:spPr>
      </p:pic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566160"/>
            <a:ext cx="5760720" cy="2651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62636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55555"/>
                </a:solidFill>
              </a:rPr>
              <a:t>Top: F₁ is flat from N=1 to N=50 — no minimum custody duration needed.  Bottom: confusion matrix, Brazil EEZ.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